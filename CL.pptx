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-576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F0A50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36576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5029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THEME-20 | OFFENSIVE SECURITY | SLR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148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Time &amp; Lateral Movement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11480" y="1965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of Graph-Theoretic Evasion Strategies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11480" y="2633472"/>
            <a:ext cx="320040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278892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 err="1" smtClean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</a:t>
            </a:r>
            <a:r>
              <a:rPr lang="en-US" sz="1300" dirty="0" smtClean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R, </a:t>
            </a:r>
            <a:r>
              <a:rPr lang="en-US" sz="1300" dirty="0" err="1" smtClean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</a:t>
            </a:r>
            <a:r>
              <a:rPr lang="en-US" sz="1300" dirty="0" smtClean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SK, </a:t>
            </a:r>
            <a:r>
              <a:rPr lang="en-US" sz="1300" dirty="0" err="1" smtClean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Adithyan</a:t>
            </a:r>
            <a:r>
              <a:rPr lang="en-US" sz="1300" dirty="0" smtClean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</a:t>
            </a:r>
          </a:p>
          <a:p>
            <a:pPr marL="0" indent="0" algn="l">
              <a:buNone/>
            </a:pPr>
            <a:r>
              <a:rPr lang="en-US" sz="1300" dirty="0" smtClean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</a:t>
            </a: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Computer Science &amp; Engineering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Deemed-to-be University, Bangalore, India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Literature Review 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5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4206240" cy="100584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417320"/>
            <a:ext cx="502920" cy="10058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6733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67335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81328" y="15270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481328" y="189280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lateral movement is dangerous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4048" y="2560320"/>
            <a:ext cx="4206240" cy="100584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84048" y="2560320"/>
            <a:ext cx="502920" cy="10058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" y="28163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281635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81328" y="26700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Graph Theory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81328" y="303580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Dijkstra, ARW, PSS explained simply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84048" y="3703320"/>
            <a:ext cx="4206240" cy="100584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84048" y="3703320"/>
            <a:ext cx="502920" cy="10058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0" name="Text 16"/>
          <p:cNvSpPr/>
          <p:nvPr/>
        </p:nvSpPr>
        <p:spPr>
          <a:xfrm>
            <a:off x="384048" y="39593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3959352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81328" y="38130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 of Attacks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481328" y="417880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hackers actually move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818888" y="1417320"/>
            <a:ext cx="4206240" cy="100584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18888" y="1417320"/>
            <a:ext cx="502920" cy="10058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6" name="Text 21"/>
          <p:cNvSpPr/>
          <p:nvPr/>
        </p:nvSpPr>
        <p:spPr>
          <a:xfrm>
            <a:off x="4818888" y="16733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3248" y="1673352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916168" y="15270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Methods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916168" y="189280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40 research papers found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818888" y="2560320"/>
            <a:ext cx="4206240" cy="100584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818888" y="2560320"/>
            <a:ext cx="502920" cy="10058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2" name="Text 26"/>
          <p:cNvSpPr/>
          <p:nvPr/>
        </p:nvSpPr>
        <p:spPr>
          <a:xfrm>
            <a:off x="4818888" y="28163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3248" y="2816352"/>
            <a:ext cx="411480" cy="4114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916168" y="26700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Implications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5916168" y="303580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IT Act 2000 &amp; the 72h problem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818888" y="3703320"/>
            <a:ext cx="4206240" cy="100584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818888" y="3703320"/>
            <a:ext cx="502920" cy="10058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8" name="Text 31"/>
          <p:cNvSpPr/>
          <p:nvPr/>
        </p:nvSpPr>
        <p:spPr>
          <a:xfrm>
            <a:off x="4818888" y="39593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3248" y="3959352"/>
            <a:ext cx="411480" cy="41148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916168" y="38130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Conclusion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5916168" y="417880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problems &amp; key takeaways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5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Lateral Movement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1244168"/>
            <a:ext cx="8375904" cy="91440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34440"/>
            <a:ext cx="64008" cy="914400"/>
          </a:xfrm>
          <a:prstGeom prst="rect">
            <a:avLst/>
          </a:prstGeom>
          <a:solidFill>
            <a:srgbClr val="F0A50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0432" y="132588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patient thief who enters a building, walks slowly, uses real staff keys, and steals small things over months — so no alarm ever triggers.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84048" y="2304288"/>
            <a:ext cx="2697480" cy="2450592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84048" y="2304288"/>
            <a:ext cx="2697480" cy="64008"/>
          </a:xfrm>
          <a:prstGeom prst="rect">
            <a:avLst/>
          </a:prstGeom>
          <a:solidFill>
            <a:srgbClr val="E8394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245059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" y="292608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Move Sideways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21208" y="340156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initial access, attackers hop from computer to computer — quietly — pretending to be IT staff.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18688" y="2304288"/>
            <a:ext cx="2697480" cy="2450592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18688" y="2304288"/>
            <a:ext cx="2697480" cy="64008"/>
          </a:xfrm>
          <a:prstGeom prst="rect">
            <a:avLst/>
          </a:prstGeom>
          <a:solidFill>
            <a:srgbClr val="F0A50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245059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355848" y="292608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Time = Hidden Time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355848" y="340156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204 days before detection. The longer they hide, the more damage done — and the harder to prosecute.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053328" y="2304288"/>
            <a:ext cx="2697480" cy="2450592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53328" y="2304288"/>
            <a:ext cx="2697480" cy="64008"/>
          </a:xfrm>
          <a:prstGeom prst="rect">
            <a:avLst/>
          </a:prstGeom>
          <a:solidFill>
            <a:srgbClr val="7EB3E8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2450592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90488" y="2926080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Gap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190488" y="340156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requires breach notification within 72 hours of discovery. If hackers stay hidden for months, companies violate law unknowingly.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Systematic Literature Review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1325880"/>
            <a:ext cx="1920240" cy="137160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325880"/>
            <a:ext cx="1920240" cy="7315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4173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974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Found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" y="21214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IEEE, ACM,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ScienceDirect, Springer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1737360"/>
            <a:ext cx="201168" cy="201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60320" y="1325880"/>
            <a:ext cx="1920240" cy="137160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0" y="1325880"/>
            <a:ext cx="1920240" cy="7315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3" name="Text 10"/>
          <p:cNvSpPr/>
          <p:nvPr/>
        </p:nvSpPr>
        <p:spPr>
          <a:xfrm>
            <a:off x="2651760" y="14173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826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651760" y="21214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&amp; abstract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applied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1737360"/>
            <a:ext cx="201168" cy="2011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736592" y="1325880"/>
            <a:ext cx="1920240" cy="137160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36592" y="1325880"/>
            <a:ext cx="1920240" cy="7315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8" name="Text 14"/>
          <p:cNvSpPr/>
          <p:nvPr/>
        </p:nvSpPr>
        <p:spPr>
          <a:xfrm>
            <a:off x="4828032" y="14173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264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Read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4828032" y="21214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1737360"/>
            <a:ext cx="201168" cy="2011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912864" y="1325880"/>
            <a:ext cx="1920240" cy="1371600"/>
          </a:xfrm>
          <a:prstGeom prst="rect">
            <a:avLst/>
          </a:prstGeom>
          <a:solidFill>
            <a:srgbClr val="F0A50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912864" y="1325880"/>
            <a:ext cx="1920240" cy="7315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3" name="Text 18"/>
          <p:cNvSpPr/>
          <p:nvPr/>
        </p:nvSpPr>
        <p:spPr>
          <a:xfrm>
            <a:off x="7004304" y="14173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Papers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7004304" y="2121408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SLR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384048" y="2880360"/>
            <a:ext cx="4160520" cy="182880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84048" y="2880360"/>
            <a:ext cx="4160520" cy="64008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7" name="Text 22"/>
          <p:cNvSpPr/>
          <p:nvPr/>
        </p:nvSpPr>
        <p:spPr>
          <a:xfrm>
            <a:off x="502920" y="29443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Inclusion Criteria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02920" y="331012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papers, 2019–2026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 / dwell time topic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performance metrics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language articles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4709160" y="2880360"/>
            <a:ext cx="4050792" cy="182880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709160" y="2880360"/>
            <a:ext cx="4050792" cy="64008"/>
          </a:xfrm>
          <a:prstGeom prst="rect">
            <a:avLst/>
          </a:prstGeom>
          <a:solidFill>
            <a:srgbClr val="E8394A"/>
          </a:solidFill>
          <a:ln/>
        </p:spPr>
      </p:sp>
      <p:sp>
        <p:nvSpPr>
          <p:cNvPr id="31" name="Text 26"/>
          <p:cNvSpPr/>
          <p:nvPr/>
        </p:nvSpPr>
        <p:spPr>
          <a:xfrm>
            <a:off x="4828032" y="29443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Exclusion Criteria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4828032" y="3310128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Blogs, whitepapers, opinion pieces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experimental validation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security domains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Theory: How Hackers Pick Their Path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1325880"/>
            <a:ext cx="2697480" cy="338328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325880"/>
            <a:ext cx="2697480" cy="64008"/>
          </a:xfrm>
          <a:prstGeom prst="rect">
            <a:avLst/>
          </a:prstGeom>
          <a:solidFill>
            <a:srgbClr val="1E5FA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630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5488" y="19659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as a Graph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93776" y="2423160"/>
            <a:ext cx="2478024" cy="5486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" y="2450592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(V, E, W)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21208" y="306324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= Nodes (V)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= Edges (E)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Risk = Weights (W)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36976" y="1325880"/>
            <a:ext cx="2697480" cy="338328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36976" y="1325880"/>
            <a:ext cx="2697480" cy="64008"/>
          </a:xfrm>
          <a:prstGeom prst="rect">
            <a:avLst/>
          </a:prstGeom>
          <a:solidFill>
            <a:srgbClr val="1E5FA8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56" y="14630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28416" y="19659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— Safest Path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3346704" y="2423160"/>
            <a:ext cx="2478024" cy="5486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8" name="Text 14"/>
          <p:cNvSpPr/>
          <p:nvPr/>
        </p:nvSpPr>
        <p:spPr>
          <a:xfrm>
            <a:off x="3346704" y="2450592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d(v) = min{ d(u) + w(u,v) }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74136" y="306324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route with LOWEST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risk from the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hacked computer to the target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89904" y="1325880"/>
            <a:ext cx="2697480" cy="338328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89904" y="1325880"/>
            <a:ext cx="2697480" cy="64008"/>
          </a:xfrm>
          <a:prstGeom prst="rect">
            <a:avLst/>
          </a:prstGeom>
          <a:solidFill>
            <a:srgbClr val="F0A500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46304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81344" y="196596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Alert-Risk Weight (ARW)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199632" y="2423160"/>
            <a:ext cx="2478024" cy="5486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5" name="Text 20"/>
          <p:cNvSpPr/>
          <p:nvPr/>
        </p:nvSpPr>
        <p:spPr>
          <a:xfrm>
            <a:off x="6199632" y="2450592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α·A(v) + β·B(act) + γ·T(t)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227064" y="3063240"/>
            <a:ext cx="24231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A(v) = how monitored is dest.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B(act) = how suspicious the action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T(t) = what time of day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84048" y="4617720"/>
            <a:ext cx="8375904" cy="34747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8" name="Text 23"/>
          <p:cNvSpPr/>
          <p:nvPr/>
        </p:nvSpPr>
        <p:spPr>
          <a:xfrm>
            <a:off x="457200" y="463600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 (Path Stealth Score) ↑    ➜    LNL (Legal Notification Latency) ↑    ➜    Company violates 72-hour law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Theory: How Hackers Pick Their Path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493776" y="2423160"/>
            <a:ext cx="2478024" cy="5486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9" name="TextBox 28"/>
          <p:cNvSpPr txBox="1"/>
          <p:nvPr/>
        </p:nvSpPr>
        <p:spPr>
          <a:xfrm>
            <a:off x="3570054" y="1143000"/>
            <a:ext cx="22426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>
                <a:solidFill>
                  <a:schemeClr val="bg2"/>
                </a:solidFill>
              </a:rPr>
              <a:t>Dijkstra’s</a:t>
            </a:r>
            <a:r>
              <a:rPr lang="en-US" sz="2000" b="1" dirty="0" smtClean="0">
                <a:solidFill>
                  <a:schemeClr val="bg2"/>
                </a:solidFill>
              </a:rPr>
              <a:t> algorithm</a:t>
            </a:r>
            <a:endParaRPr lang="en-US" sz="2000" b="1" dirty="0">
              <a:solidFill>
                <a:schemeClr val="bg2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1480" y="1887166"/>
            <a:ext cx="473180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chemeClr val="bg2"/>
                </a:solidFill>
              </a:rPr>
              <a:t>Step 1: Look at all neighbors of (v)</a:t>
            </a:r>
          </a:p>
          <a:p>
            <a:r>
              <a:rPr lang="en-US" dirty="0" smtClean="0">
                <a:solidFill>
                  <a:schemeClr val="bg2"/>
                </a:solidFill>
              </a:rPr>
              <a:t>These are nodes like (A, B, C) that connect to (v).</a:t>
            </a:r>
          </a:p>
          <a:p>
            <a:r>
              <a:rPr lang="en-US" b="1" i="1" dirty="0" smtClean="0">
                <a:solidFill>
                  <a:schemeClr val="bg2"/>
                </a:solidFill>
              </a:rPr>
              <a:t>Step 2: Apply the formula to each one</a:t>
            </a:r>
          </a:p>
          <a:p>
            <a:r>
              <a:rPr lang="en-US" dirty="0" smtClean="0">
                <a:solidFill>
                  <a:schemeClr val="bg2"/>
                </a:solidFill>
              </a:rPr>
              <a:t>For each node (u), compute:</a:t>
            </a:r>
          </a:p>
          <a:p>
            <a:pPr lvl="0"/>
            <a:r>
              <a:rPr lang="en-US" dirty="0" smtClean="0">
                <a:solidFill>
                  <a:schemeClr val="bg2"/>
                </a:solidFill>
              </a:rPr>
              <a:t>From (A):</a:t>
            </a:r>
            <a:br>
              <a:rPr lang="en-US" dirty="0" smtClean="0">
                <a:solidFill>
                  <a:schemeClr val="bg2"/>
                </a:solidFill>
              </a:rPr>
            </a:br>
            <a:r>
              <a:rPr lang="en-US" dirty="0" smtClean="0">
                <a:solidFill>
                  <a:schemeClr val="bg2"/>
                </a:solidFill>
              </a:rPr>
              <a:t>(d(A) + w(</a:t>
            </a:r>
            <a:r>
              <a:rPr lang="en-US" dirty="0" err="1" smtClean="0">
                <a:solidFill>
                  <a:schemeClr val="bg2"/>
                </a:solidFill>
              </a:rPr>
              <a:t>A,v</a:t>
            </a:r>
            <a:r>
              <a:rPr lang="en-US" dirty="0" smtClean="0">
                <a:solidFill>
                  <a:schemeClr val="bg2"/>
                </a:solidFill>
              </a:rPr>
              <a:t>))</a:t>
            </a:r>
          </a:p>
          <a:p>
            <a:pPr lvl="0"/>
            <a:r>
              <a:rPr lang="en-US" dirty="0" smtClean="0">
                <a:solidFill>
                  <a:schemeClr val="bg2"/>
                </a:solidFill>
              </a:rPr>
              <a:t>From (B):</a:t>
            </a:r>
            <a:br>
              <a:rPr lang="en-US" dirty="0" smtClean="0">
                <a:solidFill>
                  <a:schemeClr val="bg2"/>
                </a:solidFill>
              </a:rPr>
            </a:br>
            <a:r>
              <a:rPr lang="en-US" dirty="0" smtClean="0">
                <a:solidFill>
                  <a:schemeClr val="bg2"/>
                </a:solidFill>
              </a:rPr>
              <a:t>(d(B) + w(</a:t>
            </a:r>
            <a:r>
              <a:rPr lang="en-US" dirty="0" err="1" smtClean="0">
                <a:solidFill>
                  <a:schemeClr val="bg2"/>
                </a:solidFill>
              </a:rPr>
              <a:t>B,v</a:t>
            </a:r>
            <a:r>
              <a:rPr lang="en-US" dirty="0" smtClean="0">
                <a:solidFill>
                  <a:schemeClr val="bg2"/>
                </a:solidFill>
              </a:rPr>
              <a:t>))</a:t>
            </a:r>
          </a:p>
          <a:p>
            <a:pPr lvl="0"/>
            <a:r>
              <a:rPr lang="en-US" dirty="0" smtClean="0">
                <a:solidFill>
                  <a:schemeClr val="bg2"/>
                </a:solidFill>
              </a:rPr>
              <a:t>From (C):</a:t>
            </a:r>
            <a:br>
              <a:rPr lang="en-US" dirty="0" smtClean="0">
                <a:solidFill>
                  <a:schemeClr val="bg2"/>
                </a:solidFill>
              </a:rPr>
            </a:br>
            <a:r>
              <a:rPr lang="en-US" dirty="0" smtClean="0">
                <a:solidFill>
                  <a:schemeClr val="bg2"/>
                </a:solidFill>
              </a:rPr>
              <a:t>(d(C) + w(</a:t>
            </a:r>
            <a:r>
              <a:rPr lang="en-US" dirty="0" err="1" smtClean="0">
                <a:solidFill>
                  <a:schemeClr val="bg2"/>
                </a:solidFill>
              </a:rPr>
              <a:t>C,v</a:t>
            </a:r>
            <a:r>
              <a:rPr lang="en-US" dirty="0" smtClean="0">
                <a:solidFill>
                  <a:schemeClr val="bg2"/>
                </a:solidFill>
              </a:rPr>
              <a:t>))</a:t>
            </a:r>
          </a:p>
          <a:p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5220592" y="1887166"/>
            <a:ext cx="324095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chemeClr val="bg2"/>
                </a:solidFill>
              </a:rPr>
              <a:t>Step 3: Take minimum</a:t>
            </a:r>
            <a:r>
              <a:rPr lang="en-US" dirty="0" smtClean="0">
                <a:solidFill>
                  <a:schemeClr val="bg2"/>
                </a:solidFill>
              </a:rPr>
              <a:t/>
            </a:r>
            <a:br>
              <a:rPr lang="en-US" dirty="0" smtClean="0">
                <a:solidFill>
                  <a:schemeClr val="bg2"/>
                </a:solidFill>
              </a:rPr>
            </a:br>
            <a:r>
              <a:rPr lang="en-US" dirty="0" smtClean="0">
                <a:solidFill>
                  <a:schemeClr val="bg2"/>
                </a:solidFill>
              </a:rPr>
              <a:t>D(v) = min(text{all those values})</a:t>
            </a:r>
            <a:br>
              <a:rPr lang="en-US" dirty="0" smtClean="0">
                <a:solidFill>
                  <a:schemeClr val="bg2"/>
                </a:solidFill>
              </a:rPr>
            </a:br>
            <a:endParaRPr lang="en-US" dirty="0" smtClean="0">
              <a:solidFill>
                <a:schemeClr val="bg2"/>
              </a:solidFill>
            </a:endParaRPr>
          </a:p>
          <a:p>
            <a:r>
              <a:rPr lang="en-US" b="1" dirty="0" smtClean="0">
                <a:solidFill>
                  <a:schemeClr val="bg2"/>
                </a:solidFill>
              </a:rPr>
              <a:t> Example with numbers</a:t>
            </a:r>
          </a:p>
          <a:p>
            <a:pPr lvl="0"/>
            <a:r>
              <a:rPr lang="en-US" dirty="0" smtClean="0">
                <a:solidFill>
                  <a:schemeClr val="bg2"/>
                </a:solidFill>
              </a:rPr>
              <a:t>(d(A)=3), (w(</a:t>
            </a:r>
            <a:r>
              <a:rPr lang="en-US" dirty="0" err="1" smtClean="0">
                <a:solidFill>
                  <a:schemeClr val="bg2"/>
                </a:solidFill>
              </a:rPr>
              <a:t>A,v</a:t>
            </a:r>
            <a:r>
              <a:rPr lang="en-US" dirty="0" smtClean="0">
                <a:solidFill>
                  <a:schemeClr val="bg2"/>
                </a:solidFill>
              </a:rPr>
              <a:t>)=2) → 3 + 2 = 5</a:t>
            </a:r>
          </a:p>
          <a:p>
            <a:pPr lvl="0"/>
            <a:r>
              <a:rPr lang="en-US" dirty="0" smtClean="0">
                <a:solidFill>
                  <a:schemeClr val="bg2"/>
                </a:solidFill>
              </a:rPr>
              <a:t>(d(B)=4), (w(</a:t>
            </a:r>
            <a:r>
              <a:rPr lang="en-US" dirty="0" err="1" smtClean="0">
                <a:solidFill>
                  <a:schemeClr val="bg2"/>
                </a:solidFill>
              </a:rPr>
              <a:t>B,v</a:t>
            </a:r>
            <a:r>
              <a:rPr lang="en-US" dirty="0" smtClean="0">
                <a:solidFill>
                  <a:schemeClr val="bg2"/>
                </a:solidFill>
              </a:rPr>
              <a:t>)=1) → 4 + 1 = 5</a:t>
            </a:r>
          </a:p>
          <a:p>
            <a:pPr lvl="0"/>
            <a:r>
              <a:rPr lang="en-US" dirty="0" smtClean="0">
                <a:solidFill>
                  <a:schemeClr val="bg2"/>
                </a:solidFill>
              </a:rPr>
              <a:t>(d(C)=2), (w(</a:t>
            </a:r>
            <a:r>
              <a:rPr lang="en-US" dirty="0" err="1" smtClean="0">
                <a:solidFill>
                  <a:schemeClr val="bg2"/>
                </a:solidFill>
              </a:rPr>
              <a:t>C,v</a:t>
            </a:r>
            <a:r>
              <a:rPr lang="en-US" dirty="0" smtClean="0">
                <a:solidFill>
                  <a:schemeClr val="bg2"/>
                </a:solidFill>
              </a:rPr>
              <a:t>)=5) → 2 + 5 = 7</a:t>
            </a:r>
          </a:p>
          <a:p>
            <a:r>
              <a:rPr lang="en-US" dirty="0" smtClean="0">
                <a:solidFill>
                  <a:schemeClr val="bg2"/>
                </a:solidFill>
              </a:rPr>
              <a:t>Now apply formula:</a:t>
            </a:r>
            <a:br>
              <a:rPr lang="en-US" dirty="0" smtClean="0">
                <a:solidFill>
                  <a:schemeClr val="bg2"/>
                </a:solidFill>
              </a:rPr>
            </a:br>
            <a:r>
              <a:rPr lang="en-US" dirty="0" smtClean="0">
                <a:solidFill>
                  <a:schemeClr val="bg2"/>
                </a:solidFill>
              </a:rPr>
              <a:t>D(v) = min(5, 5, 7) = 5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234440"/>
            <a:ext cx="457200" cy="457200"/>
          </a:xfrm>
          <a:prstGeom prst="rect">
            <a:avLst/>
          </a:prstGeom>
        </p:spPr>
      </p:pic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35" y="11430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 of Lateral Movement Attacks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1298448"/>
            <a:ext cx="4187952" cy="169164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98448"/>
            <a:ext cx="502920" cy="1691640"/>
          </a:xfrm>
          <a:prstGeom prst="rect">
            <a:avLst/>
          </a:prstGeom>
          <a:solidFill>
            <a:srgbClr val="E8394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435608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35608" y="13898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Credential-Based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435608" y="17556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Pass-the-Hash • Kerberoasting • Golden Ticket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435608" y="2048256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Steals your login tokens and replays them. Looks exactly like a normal login — no alarm raised. Kerberoasting attacks increased 600% in 2023.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84048" y="3127248"/>
            <a:ext cx="4187952" cy="169164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84048" y="3127248"/>
            <a:ext cx="502920" cy="16916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5" name="Text 12"/>
          <p:cNvSpPr/>
          <p:nvPr/>
        </p:nvSpPr>
        <p:spPr>
          <a:xfrm>
            <a:off x="384048" y="3630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326440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435608" y="32186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Living-Off-the-Land (LotL)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35608" y="35844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• WMI • PsExec • RDP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435608" y="3877056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Windows' own built-in tools — so antivirus can't tell the difference from a real admin. Used in 84% of major breaches in 2025.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791456" y="1298448"/>
            <a:ext cx="4187952" cy="169164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91456" y="1298448"/>
            <a:ext cx="502920" cy="169164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2" name="Text 18"/>
          <p:cNvSpPr/>
          <p:nvPr/>
        </p:nvSpPr>
        <p:spPr>
          <a:xfrm>
            <a:off x="4791456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1435608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843016" y="13898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Tunneling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843016" y="17556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• HTTPS • ICMP • SMB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5843016" y="2048256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hacker commands inside normal internet traffic. Firewall sees "ordinary web traffic" and lets it pass. Creates invisible phantom edges in the network graph.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791456" y="3127248"/>
            <a:ext cx="4187952" cy="169164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791456" y="3127248"/>
            <a:ext cx="502920" cy="169164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9" name="Text 24"/>
          <p:cNvSpPr/>
          <p:nvPr/>
        </p:nvSpPr>
        <p:spPr>
          <a:xfrm>
            <a:off x="4791456" y="3630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5816" y="3264408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843016" y="32186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Slow-Burn (Time-Delayed)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5843016" y="35844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per week • Admin-hour timing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5843016" y="3877056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so slowly that no alert threshold is ever crossed. Average dwell time: 204 days. By the time discovered, the 72-hour legal window has been missed 800+ times.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5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APPROACHES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Researchers Are Fighting Back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1325880"/>
            <a:ext cx="4187952" cy="1664208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325880"/>
            <a:ext cx="4187952" cy="64008"/>
          </a:xfrm>
          <a:prstGeom prst="rect">
            <a:avLst/>
          </a:prstGeom>
          <a:solidFill>
            <a:srgbClr val="1E5FA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9047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14630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Neural Networks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1984248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entire network as a graph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unusual connections between computers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Euler, LONGAN, HetGLM frameworks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finding hidden pathways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" y="3136392"/>
            <a:ext cx="4187952" cy="1664208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4048" y="3136392"/>
            <a:ext cx="4187952" cy="64008"/>
          </a:xfrm>
          <a:prstGeom prst="rect">
            <a:avLst/>
          </a:prstGeom>
          <a:solidFill>
            <a:srgbClr val="1ABC9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00984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69848" y="327355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(Sysmon)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48640" y="37947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93+ Windows log features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99.4% accuracy in tests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large labeled training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catching known attack patterns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791456" y="1325880"/>
            <a:ext cx="4187952" cy="1664208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91456" y="1325880"/>
            <a:ext cx="4187952" cy="64008"/>
          </a:xfrm>
          <a:prstGeom prst="rect">
            <a:avLst/>
          </a:prstGeom>
          <a:solidFill>
            <a:srgbClr val="F0A50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1490472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77256" y="14630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Analytics (UEBA)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956048" y="1984248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what each user normally does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deviations: odd hours, new systems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HADES, WATSON, NodOze tools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insider threats &amp; LotL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91456" y="3136392"/>
            <a:ext cx="4187952" cy="1664208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91456" y="3136392"/>
            <a:ext cx="4187952" cy="64008"/>
          </a:xfrm>
          <a:prstGeom prst="rect">
            <a:avLst/>
          </a:prstGeom>
          <a:solidFill>
            <a:srgbClr val="E8394A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300984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77256" y="3273552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(SIEM + SA)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956048" y="379476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cheap to deploy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Simulated Annealing to auto-tune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overhead — good for SMEs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misses slow-burn attacks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5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IMPLICATIONS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IT Act 2000 &amp; The 72-Hour Problem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84048" y="1234440"/>
            <a:ext cx="8375904" cy="658368"/>
          </a:xfrm>
          <a:prstGeom prst="rect">
            <a:avLst/>
          </a:prstGeom>
          <a:solidFill>
            <a:srgbClr val="E839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16736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16736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Legal Problem:  If PSS is high enough → LNL &gt; 3 days → Company violates law even if it had reasonable security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84048" y="2029968"/>
            <a:ext cx="4069080" cy="260604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4048" y="2029968"/>
            <a:ext cx="4069080" cy="64008"/>
          </a:xfrm>
          <a:prstGeom prst="rect">
            <a:avLst/>
          </a:prstGeom>
          <a:solidFill>
            <a:srgbClr val="7EB3E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13969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87552" y="21031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E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(Europe)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30352" y="2542032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33: Report within 72 hrs of discovering breach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25: Build security into systems from day one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32: Must have adequate monitoring in place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22: AI decisions must be explainable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'Discovery' is not clearly defined — hackers exploit this ambiguity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81728" y="2029968"/>
            <a:ext cx="4078224" cy="260604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81728" y="2029968"/>
            <a:ext cx="4078224" cy="64008"/>
          </a:xfrm>
          <a:prstGeom prst="rect">
            <a:avLst/>
          </a:prstGeom>
          <a:solidFill>
            <a:srgbClr val="F0A5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13969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85232" y="21031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IT Act 2000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828032" y="2542032"/>
            <a:ext cx="3767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 43: Unauthorized computer access is an offense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 43A: Companies liable for poor data security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 66: Criminal charges for malicious access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NIS2 (EU 2023): Even stricter — 24hr early alert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specific 72-hour notification deadline in India's law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5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WORK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Problems &amp; Research Directions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4048" y="1325880"/>
            <a:ext cx="2670048" cy="1609344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325880"/>
            <a:ext cx="54864" cy="1609344"/>
          </a:xfrm>
          <a:prstGeom prst="rect">
            <a:avLst/>
          </a:prstGeom>
          <a:solidFill>
            <a:srgbClr val="E8394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8408" y="1435608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Slow-Burn Attacks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920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SIEM tools correlate events in seconds. Attacks spread over weeks are nearly invisible. Need long-window behavioral analysis.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18688" y="1325880"/>
            <a:ext cx="2670048" cy="1609344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18688" y="1325880"/>
            <a:ext cx="54864" cy="1609344"/>
          </a:xfrm>
          <a:prstGeom prst="rect">
            <a:avLst/>
          </a:prstGeom>
          <a:solidFill>
            <a:srgbClr val="F0A50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46304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13048" y="1435608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Detection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83280" y="1920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models are black boxes. GDPR Article 22 says AI must explain its decisions. Making detection transparent is urgent.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53328" y="1325880"/>
            <a:ext cx="2670048" cy="1609344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53328" y="1325880"/>
            <a:ext cx="54864" cy="1609344"/>
          </a:xfrm>
          <a:prstGeom prst="rect">
            <a:avLst/>
          </a:prstGeom>
          <a:solidFill>
            <a:srgbClr val="1ABC9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46304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47688" y="1435608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Network Graphs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17920" y="1920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networks change daily — new servers, new credentials. Static detection models go stale fast. Need real-time graph updates.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84048" y="3081528"/>
            <a:ext cx="2670048" cy="1609344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84048" y="3081528"/>
            <a:ext cx="54864" cy="1609344"/>
          </a:xfrm>
          <a:prstGeom prst="rect">
            <a:avLst/>
          </a:prstGeom>
          <a:solidFill>
            <a:srgbClr val="1E5FA8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21868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78408" y="3191256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367588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can't share breach data due to privacy laws. Federated learning lets them learn from each other without sharing raw data.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18688" y="3081528"/>
            <a:ext cx="2670048" cy="1609344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18688" y="3081528"/>
            <a:ext cx="54864" cy="1609344"/>
          </a:xfrm>
          <a:prstGeom prst="rect">
            <a:avLst/>
          </a:prstGeom>
          <a:solidFill>
            <a:srgbClr val="E8394A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3218688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13048" y="3191256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&amp; OT Networks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383280" y="367588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Factories, hospitals, utilities have legacy devices that can't be monitored by standard tools. Huge blind spot for lateral movement.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053328" y="3081528"/>
            <a:ext cx="2670048" cy="1609344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53328" y="3081528"/>
            <a:ext cx="54864" cy="1609344"/>
          </a:xfrm>
          <a:prstGeom prst="rect">
            <a:avLst/>
          </a:prstGeom>
          <a:solidFill>
            <a:srgbClr val="F0A500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218688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647688" y="3191256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Law Gaps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217920" y="367588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route through multiple countries. No harmonized global cyber law. Attribution almost impossible. Need treaty-level cooperation.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5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4048" y="1280160"/>
            <a:ext cx="8375904" cy="64008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80160"/>
            <a:ext cx="457200" cy="6400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use graph math to find the safest path through your network — Dijkstra's Algorithm applied to evade detection.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2011680"/>
            <a:ext cx="8375904" cy="64008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011680"/>
            <a:ext cx="457200" cy="640080"/>
          </a:xfrm>
          <a:prstGeom prst="rect">
            <a:avLst/>
          </a:prstGeom>
          <a:solidFill>
            <a:srgbClr val="E8394A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103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detection systems catch attacks AFTER the 72-hour legal window — creating regulatory liability for innocent companies.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" y="2743200"/>
            <a:ext cx="8375904" cy="64008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743200"/>
            <a:ext cx="457200" cy="64008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Living-Off-the-Land (LotL) techniques appear in 84% of serious breaches — they're nearly invisible because they use Windows' own tools.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3474720"/>
            <a:ext cx="8375904" cy="64008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3474720"/>
            <a:ext cx="457200" cy="6400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IT Act 2000, and NIS2 all have gaps when it comes to slow, stealthy, long-dwell-time breaches.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" y="4206240"/>
            <a:ext cx="8375904" cy="640080"/>
          </a:xfrm>
          <a:prstGeom prst="rect">
            <a:avLst/>
          </a:prstGeom>
          <a:solidFill>
            <a:srgbClr val="1A2E5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4206240"/>
            <a:ext cx="457200" cy="64008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42976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systems need: explainable AI + federated learning + real-time graph updates + better international law cooperation.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2E5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A50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911482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0876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3200400" y="2942432"/>
            <a:ext cx="2743200" cy="45720"/>
          </a:xfrm>
          <a:prstGeom prst="rect">
            <a:avLst/>
          </a:prstGeom>
          <a:solidFill>
            <a:srgbClr val="F0A5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1204</Words>
  <Application>Microsoft Office PowerPoint</Application>
  <PresentationFormat>On-screen Show (16:9)</PresentationFormat>
  <Paragraphs>192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Dwell Time &amp; Lateral Movement</dc:title>
  <dc:subject>PptxGenJS Presentation</dc:subject>
  <dc:creator>PptxGenJS</dc:creator>
  <cp:lastModifiedBy>ADMIN</cp:lastModifiedBy>
  <cp:revision>6</cp:revision>
  <dcterms:created xsi:type="dcterms:W3CDTF">2026-03-31T09:03:37Z</dcterms:created>
  <dcterms:modified xsi:type="dcterms:W3CDTF">2026-04-01T10:14:15Z</dcterms:modified>
</cp:coreProperties>
</file>